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Financial Literacy Landscape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Modalities, Players &amp; Strategic Directions for Money Monsters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Analysed 20+ solutions across the youth financial literacy space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Solutions cluster into FOUR approaches: TEACH, PRACTICE, CONNECT, GUIDE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Money Monsters sits in TEACH (app-based, gamified) — strong for 13-15s, weak for 18-25s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Most viable path: Add GUIDE (AI coach) as unifying layer, then consider PRACTICE or CONNECT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Key warning: Young adults reject 'childish gamification' — serving full age range requires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1: The Current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What solutions exist and how they differ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 Approaches to Youth Financial Literacy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10504" cy="2286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Structured Knowledge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"Build understanding through curriculum and content"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Best for: Young Teens (13-15)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990" y="1463040"/>
            <a:ext cx="5410504" cy="2286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687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687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Real-World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6870" y="2560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"Learn by doing with real money"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3108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Best for: Young Adults (18-25)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410504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Social &amp; Peer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"Learn from and with peers"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Best for: Young &amp; Older Teens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3990" y="4023360"/>
            <a:ext cx="5410504" cy="22860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6870" y="42062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6870" y="45720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Personalized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6870" y="5120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"Get adaptive, personalized support"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687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Best for: All ages, especially 16+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TEACH: Structured Knowledge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E67E22"/>
                </a:solidFill>
              </a:defRPr>
            </a:pPr>
            <a:r>
              <a:t>"Build understanding through curriculum and content"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Key Mechanics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Progressive curriculum with clear learning path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Gamification: streaks, points, badges, levels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Quizzes and knowledge checks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Character-driven narratives (e.g. monsters)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School/institutional delivery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Examples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Money Monsters, Zogo (app-based)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Money Wise Game, Stock Market Game (simulation)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Money Ready, Young Enterprise (institutional)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Kredit Academy, KidVestors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MoneyTime Kids, Blackbullion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Best audience fit: Young Teens (13-15)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PRACTICE: Real-World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98DB"/>
                </a:solidFill>
              </a:defRPr>
            </a:pPr>
            <a:r>
              <a:t>"Learn by doing with real money"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Key Mechanics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Banking app with educational layer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Real money management with oversight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Behavioural nudges at spending moments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Automatic saving and round-up features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Investment with fractional shares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Examples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Greenlight (6M+ users)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GoHenry Money Missions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Gimi, Mega Card, Earlybean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Bloom, Stockpile (teen investing)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Acorns round-ups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Best audience fit: Young Adults (18-25)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CONNECT: Social &amp; Peer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7AE60"/>
                </a:solidFill>
              </a:defRPr>
            </a:pPr>
            <a:r>
              <a:t>"Learn from and with peers"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Key Mechanics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Challenge friends / social competition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Community discussion and forums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Peer mentoring (near-peer model)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Finfluencer content and social proof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Ambassador / peer teaching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Examples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TikTok finfluencers (Vivian Tu, etc.)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Bumper "Investment Circle"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Discord/Reddit finance communities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Futures Financials (teen-led)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Finance podcasts for youth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Best audience fit: Young &amp; Older Teens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GUIDE: Personalized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8E44AD"/>
                </a:solidFill>
              </a:defRPr>
            </a:pPr>
            <a:r>
              <a:t>"Get adaptive, personalized support"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Key Mechanics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Conversational AI (ask anything)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Adaptive difficulty based on knowledge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Personalised learning paths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24/7 availability for just-in-time help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Proactive nudges based 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Examples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Cleo (AI spending assistant)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Quirk (personality-based advice)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Coach mAIa, Kiro AI Coach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Tendi AI financial advisor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• ChatGPT for finance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E44AD"/>
                </a:solidFill>
              </a:defRPr>
            </a:pPr>
            <a:r>
              <a:t>Best audience fit: All ages, especially 16+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2: The Four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TEACH / PRACTICE / CONNECT /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 Approaches: How to Sort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315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TEACH: App-based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716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Gamified apps with progressive lessons, quizzes, badges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7315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TEACH: Institutional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2402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School/employer delivered, curriculum-aligned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7315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TEACH: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1089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Games and simulations, low-stakes practice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77639"/>
            <a:ext cx="7315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977639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Real money management: banking, investing, saving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7315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8463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Social learning: peers, finfluencers, communities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715000"/>
            <a:ext cx="73152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852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15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715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Personalized support: AI coaches, adaptive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TEACH: Structured Knowledge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Money Monsters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Gamified app with monster-taming metaphor (app-based)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Zogo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Gamified financial literacy with real rewards (app-based)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Money Wise Game / Dot Dot 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Educational games and simulations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Kredit Academy / KidVestors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Gamified courses with progression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Money Ready / Young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School-delivered curriculum (institutional)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Blackbullion / MoneyTime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Online courses for students (institutional)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PRACTICE: Real-World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Greenlight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6M+ users, debit card + savings + gamified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GoHenry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Money Missions with real money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Gimi / Mega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Banking as learning tool, parental oversight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Bloom / Stockpile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Teen investing with fractional shares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Acorns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Round-up investing, automatic saving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Earlybean / BusyKid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Pocket money apps with real money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CONNECT: Social &amp; Peer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TikTok Finfluencers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Vivian Tu, Taylor Price, Kia Commodore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Bumper Investment Circle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Social learning with peer accountability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Discord/Reddit Communities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r/personalfinance, finance servers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Futures Financials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Teen-led peer teaching programs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Finance Podcasts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Money Moves, Teen Money Matters,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GUIDE: Personalized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Cleo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AI spending assistant with personality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Quirk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Personality-based financial advice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6616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Coach mAIa / Kiro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AI coaching with personalized budgeting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Tendi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AI financial advisor for beginners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548640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ChatGPT /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General AI for finance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3: Engagement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How to deliver financial literacy effectively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 Engagement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10504" cy="2286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"What's in it for me?"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Clear, tangible outcome the learner will 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990" y="1371600"/>
            <a:ext cx="5410504" cy="2286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687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263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6870" y="2011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"Does this interaction have a point?"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Every interactive element drives toward a functional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410504" cy="2286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CONTEXTUAL 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"Does this connect to my world?"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Same concept, presented through contexts they recognize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3990" y="3931920"/>
            <a:ext cx="5410504" cy="22860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6870" y="4069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2630" y="4069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6870" y="4572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FFFFF"/>
                </a:solidFill>
              </a:defRPr>
            </a:pPr>
            <a:r>
              <a:t>"Am I being talked down to?"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687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Don't underestimate — sophisticated concepts, made relational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Action 1: Lead with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E67E22"/>
                </a:solidFill>
              </a:defRPr>
            </a:pPr>
            <a:r>
              <a:t>Based on: PROPOSITION — "What's in it for me?"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11277295" cy="10972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Every lesson/level should open with a clear, tangible benefit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Not just "Learn about X" — but "After this, you'll be able to 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Tool: Lesson Opener 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486400" cy="128016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❌ Before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"In this lesson, you'll learn about interest"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"This level covers budgeting basics"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657600"/>
            <a:ext cx="5486400" cy="1280160"/>
          </a:xfrm>
          <a:prstGeom prst="roundRect">
            <a:avLst/>
          </a:prstGeom>
          <a:solidFill>
            <a:srgbClr val="EBF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3749039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✅ After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"After this, you'll know how to make your savings grow faster"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"You'll be able to plan exactly where your money goes"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Examples from the market: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Money Wise Game: "Life skills, not just financial skills" | KidVestors: "Earn while you learn"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Blackbullion: Student money with bursary access | Bloom: "Build wealth early"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Action 2: Reframe to Their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7AE60"/>
                </a:solidFill>
              </a:defRPr>
            </a:pPr>
            <a:r>
              <a:t>Based on: CONTEXTUAL FRAMING — "Does this connect to my world?"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39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760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5394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Their 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760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C3E50"/>
                </a:solidFill>
              </a:defRPr>
            </a:pPr>
            <a:r>
              <a:t>Adult World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828800"/>
            <a:ext cx="448056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9659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EMPOWERING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774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FFFFFF"/>
                </a:solidFill>
              </a:defRPr>
            </a:pPr>
            <a:r>
              <a:t>"Next time you get birthday money, try putting half in savings"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4480560" cy="1828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659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PRESCRIPTIVE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3774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FFFFFF"/>
                </a:solidFill>
              </a:defRPr>
            </a:pPr>
            <a:r>
              <a:t>"Save 20% of your income"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840479"/>
            <a:ext cx="4480560" cy="18288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977639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RELATABLE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1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FFFFFF"/>
                </a:solidFill>
              </a:defRPr>
            </a:pPr>
            <a:r>
              <a:t>"When your £10 becomes £11, that's interest working"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840479"/>
            <a:ext cx="4480560" cy="18288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977639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TEXTBOOK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38911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C3E50"/>
                </a:solidFill>
              </a:defRPr>
            </a:pPr>
            <a:r>
              <a:t>"Interest is the cost of borrowing money"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← Move 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Action 3: Elevate, Don't Simplify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8E44AD"/>
                </a:solidFill>
              </a:defRPr>
            </a:pPr>
            <a:r>
              <a:t>Based on: CAPABILITY — "Am I being talked down to?"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277295" cy="82296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Don't remove complexity — translate it. Keep the sophistication, change the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Tool: Jargon-to-Relational Swap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Financial Jargon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200400"/>
            <a:ext cx="7528255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246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Elevated Translation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3657600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7647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Interest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703320"/>
            <a:ext cx="7528255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7764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"How your money grows while you sleep"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05656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7880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Compound interest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105656"/>
            <a:ext cx="752825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"Growth on top of growth"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07992"/>
            <a:ext cx="3657600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81144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Diversification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507992"/>
            <a:ext cx="7528255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581144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"Don't bet everything on one thing"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10328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Credit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4910328"/>
            <a:ext cx="752825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983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"Your money reputation"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12664"/>
            <a:ext cx="3657600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Budget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5312664"/>
            <a:ext cx="7528255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385816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"Your money plan"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7881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Liability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715000"/>
            <a:ext cx="752825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5788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"Something that costs you money"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117336"/>
            <a:ext cx="3657600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19048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Asset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6117336"/>
            <a:ext cx="7528255" cy="38404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619048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"Something that makes you money"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Action 4: Purpose-Driven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2286000" cy="64008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V2 / OUT OF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69696"/>
                </a:solidFill>
              </a:defRPr>
            </a:pPr>
            <a:r>
              <a:t>Based on: UTILITY — "Does this interaction have a point?"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1277295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46464"/>
                </a:solidFill>
              </a:defRPr>
            </a:pPr>
            <a:r>
              <a:t>Why this is parked for V2: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UTILITY is about interaction design — ensuring every tap, quiz, or feedback loop drives toward a functional outcome. This requires changes to mechanics and flows, not just copy.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For this first round (minor text evolutions), the three copy-focused actions are actionable.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6464"/>
                </a:solidFill>
              </a:defRPr>
            </a:pPr>
            <a:r>
              <a:t>When this becomes relevant (V2):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69696"/>
                </a:solidFill>
              </a:defRPr>
            </a:pPr>
            <a:r>
              <a:t>• Audit each interaction: "What can the learner DO after this?"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69696"/>
                </a:solidFill>
              </a:defRPr>
            </a:pPr>
            <a:r>
              <a:t>• Virtual decisions → visible consequences (Money Wise Game 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69696"/>
                </a:solidFill>
              </a:defRPr>
            </a:pPr>
            <a:r>
              <a:t>• Simulations with measurable impact (Kredit Academy credit score)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69696"/>
                </a:solidFill>
              </a:defRPr>
            </a:pPr>
            <a:r>
              <a:t>• Complete functional chains: action → outcome → reward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4: Audience 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Which approach works for which age group?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Audience Fit: Which Approach for Which Age?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10896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371600"/>
            <a:ext cx="265176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Young Teens</a:t>
            </a:r>
            <a:br/>
            <a:r>
              <a:t>(13-15)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265176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Older Teens</a:t>
            </a:r>
            <a:br/>
            <a:r>
              <a:t>(16-18)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71600"/>
            <a:ext cx="265176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41732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Young Adults</a:t>
            </a:r>
            <a:br/>
            <a:r>
              <a:t>(18-25)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310896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1945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31920" y="2468879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4231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Strong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2468879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24231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1945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2468879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4231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Weak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310896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PRACTICE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1089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31920" y="3383279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3375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Weak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1089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75120" y="3383279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3375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1089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18320" y="3383279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3375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Strong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023360"/>
            <a:ext cx="31089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2519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40233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31920" y="429768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42519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Strong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0233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75120" y="429768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2519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Strong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40233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18320" y="429768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42519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37760"/>
            <a:ext cx="310896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166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GUIDE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9377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931920" y="521208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5166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Medium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9377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75120" y="521208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5166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Strong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937760"/>
            <a:ext cx="26517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418320" y="521208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51663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Strong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C3E50"/>
                </a:solidFill>
              </a:defRPr>
            </a:pPr>
            <a:r>
              <a:t>Key insight: TEACH (gamified) works for young teens but becomes a turn-off for 18-25s who need PRACTICE or GUIDE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5: The 'So What'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C3E50"/>
                </a:solidFill>
              </a:defRPr>
            </a:pPr>
            <a:r>
              <a:t>Implications for Money Monsters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 What: Implications for Money Monsters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Where Money Monsters is today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TEACH (app-based, gamified)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Progressive curriculum with levels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Monster-taming gamification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Strong for young teen acquisition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486400" cy="1828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0975" y="14630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The challenge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TEACH alone is insufficient for: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Older users (16-25) who reject gamification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Real behaviour change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Long-term retention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11277295" cy="2560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Recommended evolution path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Phase 1: Strengthen TEACH with content partnerships (CONNECT elements)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Phase 2: Add GUIDE layer (AI coach) — the unifying element that works across all ages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Phase 3: Add PRACTICE (banking partnerships) OR expand CONNECT (social features)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Short-term: Partner with finfluencers for authentic reach (CONNECT elements)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Short-term: Create TikTok-ready shareable content from app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Medium-term: Add 'ask anything' AI chat feature (GUIDE)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Medium-term: Add friend challenges and social features (CONNECT)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Longer-term: Explore banking partnerships (PRACTICE)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Premium opportunity: GUIDE features, CONNECT community, PRACTICE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