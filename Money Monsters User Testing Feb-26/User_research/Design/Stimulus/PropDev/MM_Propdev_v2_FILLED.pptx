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3"/>
    <p:sldId id="260" r:id="rId2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4D6A"/>
    <a:srgbClr val="F9E9DF"/>
    <a:srgbClr val="FFFFFF"/>
    <a:srgbClr val="F9ECE3"/>
    <a:srgbClr val="FF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7"/>
    <p:restoredTop sz="94694"/>
  </p:normalViewPr>
  <p:slideViewPr>
    <p:cSldViewPr snapToGrid="0">
      <p:cViewPr varScale="1">
        <p:scale>
          <a:sx n="112" d="100"/>
          <a:sy n="112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892A-4222-3A60-B0B7-55A6C9813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5598-3879-CB82-612A-A1254C4AE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D0CB3-5B5D-438E-C2BC-CCB91B1A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9754-5D05-2FEF-F3D0-1FF6F701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F52DF-D0E9-2577-76E9-EC4FC463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08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584C-9409-AA9B-D873-CBD8FADB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CB06-2858-0B3B-458D-77BF1E12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C67E4-8BB4-757F-9686-9753858D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B9C57-FD17-2D44-3760-3FC55BEF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21077-3B19-3AB7-5FD7-E8BD7EDE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001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900B-3229-C0F4-4BF2-85C91B3B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A584-879B-0807-830F-4544AD97A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29CA-543B-5523-52BA-1B151F2F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786E-B17C-64BB-F6EC-7BFC4A4C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01B5B-1405-F714-FBA0-FDA1C5D7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21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F8A6-6B30-98A6-4ABF-D3993865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9C50-4A19-C870-03F2-52002BC78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FD161-8447-30EA-13D5-0A0B5BD41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5B1CC-858E-8081-60F3-A7E3D31C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DDF7A-54C4-1415-C397-F72C0B0D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D521C-C593-E3D0-FB9B-1F65B4C7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65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610D-7FF9-E5A6-C163-D8889544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FFB9D-6CE8-590C-1E68-45CA1F81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BFBFC-D077-CB33-1075-7E79F1802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1665F-17E6-F5D0-9657-66BEAAF83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B6281-3495-4354-BB39-302268A84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A449B-29B2-F910-2D3F-89C9B4BF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6ACF6-901D-07DA-AA1C-0E351EF5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879AF-2EF4-F12C-3C40-E2272FD3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23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82CB-497E-223E-C9F4-69A5B8E4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F662E-88C7-E05C-CCB2-1975D74A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4EE40-73A6-0A09-CB61-F2AAEED2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67DD5-8604-8532-FDB6-8AB5D0E7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7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72C02-1F8C-5218-2805-3EF47067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85AEB-5473-C08A-C180-40C4FF6B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C13B7-5C58-7E8B-C9CB-490BA704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87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F5DD-C2B1-0454-EDE4-299D97E8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8E0C1-A5C3-55A4-5139-50927489B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30E28-D43E-51D4-0391-4AB603C76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B99C9-3AF3-7158-EE95-F6184B8F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85954-7F95-D3A2-EA13-F899E8B2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02307-6682-05A9-8002-6C31AA3D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26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F2DE-6AA6-3363-FD03-687BABE5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009B0-156F-0FCF-B2CC-5342F6A09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DA6F-7C21-AA76-F7DC-0B40610F8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76FC7-BFB6-B1F5-E037-6DB011C7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B1E08-6A45-64D4-CBE9-46CC6900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6BB9C-5F24-18C4-76CB-53F74657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32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2AA4-DC52-0D81-CEBB-9EAFA5CF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7A44F-D8F1-4088-E101-13CCCAEA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52B0-F175-5ECB-104D-E87CD899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5C7A-7490-E4AE-B47E-1D4D795D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A3372-67DA-9E06-2DB7-FBA5BA14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36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083CC-21AB-9EAD-606A-412CB8CD4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DB9FB-2AB8-DF23-9FF5-A55A285C9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72981-8586-7DFC-454C-1D87980A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6BEFF-68DB-E167-7DEC-1B005501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17897-CC2D-8151-EC0D-E76D4CDC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3856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F54FE9-3C81-1E43-120F-5122C732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8B87D-194D-98BB-42D6-462747386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801BE-DB82-FD26-6462-4F12156EC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2B947-D6E3-6BC9-7A67-9FB22C693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EB0F7-6722-5948-A891-1499CB077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4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80480-BAFB-07E4-01D9-75DC0B8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4C395-1863-80B5-8569-AA907FE92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DC3EC-DD3D-5ABD-5200-0FC1D76DF89B}"/>
              </a:ext>
            </a:extLst>
          </p:cNvPr>
          <p:cNvSpPr txBox="1"/>
          <p:nvPr/>
        </p:nvSpPr>
        <p:spPr>
          <a:xfrm>
            <a:off x="479014" y="1176033"/>
            <a:ext cx="58915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4400" dirty="0">
                <a:solidFill>
                  <a:srgbClr val="0C4D6A"/>
                </a:solidFill>
                <a:latin typeface="Luckiest Guy" panose="02000506000000020004" pitchFamily="2" charset="0"/>
              </a:rPr>
              <a:t>Real Money Skills for Life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58DE50-2865-8E31-FBA5-079B28F9E4BE}"/>
              </a:ext>
            </a:extLst>
          </p:cNvPr>
          <p:cNvSpPr/>
          <p:nvPr/>
        </p:nvSpPr>
        <p:spPr>
          <a:xfrm>
            <a:off x="6956850" y="121297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1D4D7-1C12-F5E9-111E-BA43CA6EC1CB}"/>
              </a:ext>
            </a:extLst>
          </p:cNvPr>
          <p:cNvSpPr/>
          <p:nvPr/>
        </p:nvSpPr>
        <p:spPr>
          <a:xfrm>
            <a:off x="6977901" y="3086449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73015E-FBB6-E81E-3F5D-DE81CDBD0AA5}"/>
              </a:ext>
            </a:extLst>
          </p:cNvPr>
          <p:cNvSpPr/>
          <p:nvPr/>
        </p:nvSpPr>
        <p:spPr>
          <a:xfrm>
            <a:off x="6956849" y="495020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03053-9A74-541D-227B-E68D6919E786}"/>
              </a:ext>
            </a:extLst>
          </p:cNvPr>
          <p:cNvSpPr txBox="1"/>
          <p:nvPr/>
        </p:nvSpPr>
        <p:spPr>
          <a:xfrm>
            <a:off x="479014" y="3556940"/>
            <a:ext cx="58915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Simple money skills you can use straight away, for stuff you actually do.</a:t>
            </a:r>
            <a:r>
              <a:rPr lang="en-GB" sz="2400" dirty="0" err="1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D89B9-6EA5-D5BB-55DE-E9DCFDBB976E}"/>
              </a:ext>
            </a:extLst>
          </p:cNvPr>
          <p:cNvSpPr txBox="1"/>
          <p:nvPr/>
        </p:nvSpPr>
        <p:spPr>
          <a:xfrm>
            <a:off x="6820933" y="510325"/>
            <a:ext cx="50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What you'll get better at</a:t>
            </a:r>
            <a:r>
              <a:rPr lang="en-GB" sz="2800" dirty="0" err="1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95C03-9F57-DBDA-F4BB-D32DB5D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7" y="5595448"/>
            <a:ext cx="393111" cy="478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A2BBA9-1CBE-37BD-BD9F-602D9F9D9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293" y="3737540"/>
            <a:ext cx="393111" cy="478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7EE68-FF6B-418B-3274-AAC37A9E7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946" y="1873782"/>
            <a:ext cx="393112" cy="4785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0BA6A-DDB8-AA31-A047-0CB315E1AFD9}"/>
              </a:ext>
            </a:extLst>
          </p:cNvPr>
          <p:cNvSpPr txBox="1"/>
          <p:nvPr/>
        </p:nvSpPr>
        <p:spPr>
          <a:xfrm>
            <a:off x="8129239" y="1888404"/>
            <a:ext cx="3828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Making your money last longer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4EE976-F36E-D102-7F67-1BDED098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167" y="1666608"/>
            <a:ext cx="985072" cy="98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A6D2C8-8B77-7DEE-D2DA-2635A62C2833}"/>
              </a:ext>
            </a:extLst>
          </p:cNvPr>
          <p:cNvSpPr txBox="1"/>
          <p:nvPr/>
        </p:nvSpPr>
        <p:spPr>
          <a:xfrm>
            <a:off x="8207806" y="3776593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Saving for what you actually want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C8D5D-8310-3456-B029-A4CB44074D03}"/>
              </a:ext>
            </a:extLst>
          </p:cNvPr>
          <p:cNvSpPr txBox="1"/>
          <p:nvPr/>
        </p:nvSpPr>
        <p:spPr>
          <a:xfrm>
            <a:off x="8183311" y="5566186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Spotting the scams before they catch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C580-466C-3B9C-9D65-C30F4059D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5659" y="3511264"/>
            <a:ext cx="755142" cy="95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9F9B57-E4AF-9B64-FFFD-FCB2C6A74E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659" y="5268665"/>
            <a:ext cx="940782" cy="11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BCC3-DA1A-05C2-E6EE-69C1A07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3BB28-B849-3F1A-538F-F456BF56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C0DEF-7420-4B66-9304-48D734E6D3D2}"/>
              </a:ext>
            </a:extLst>
          </p:cNvPr>
          <p:cNvSpPr txBox="1"/>
          <p:nvPr/>
        </p:nvSpPr>
        <p:spPr>
          <a:xfrm>
            <a:off x="479014" y="1813172"/>
            <a:ext cx="589151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dirty="0">
                <a:solidFill>
                  <a:srgbClr val="0C4D6A"/>
                </a:solidFill>
                <a:latin typeface="Luckiest Guy" panose="02000506000000020004" pitchFamily="2" charset="0"/>
              </a:rPr>
              <a:t>Real Money Skills for Life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A757-FADE-E239-6F14-C25649BD69FC}"/>
              </a:ext>
            </a:extLst>
          </p:cNvPr>
          <p:cNvSpPr txBox="1"/>
          <p:nvPr/>
        </p:nvSpPr>
        <p:spPr>
          <a:xfrm>
            <a:off x="6779171" y="319536"/>
            <a:ext cx="522697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Territory to explore </a:t>
            </a:r>
            <a:b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</a:br>
            <a:endParaRPr lang="en-GB" sz="2400" b="1" dirty="0">
              <a:solidFill>
                <a:srgbClr val="0C4D6A"/>
              </a:solidFill>
              <a:latin typeface="Open Runde" pitchFamily="2" charset="0"/>
              <a:ea typeface="Open Runde" pitchFamily="2" charset="0"/>
            </a:endParaRPr>
          </a:p>
          <a:p>
            <a:pPr/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Practical, outcome-led — money skills positioned as immediately useful, not aspirational.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"skills you can use straight away" feels real or like a promise that doesn’t 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the specific bullets (lasting longer, saving, scams) match what they actually worry about — or miss the mark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whether "for stuff you actually do" creates relevance or feels too vague to mean anything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18316-769E-C04C-633D-936855BDBDAB}"/>
              </a:ext>
            </a:extLst>
          </p:cNvPr>
          <p:cNvSpPr txBox="1"/>
          <p:nvPr/>
        </p:nvSpPr>
        <p:spPr>
          <a:xfrm>
            <a:off x="6779171" y="2921168"/>
            <a:ext cx="52269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to explore if chosen by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Which of those three things matters most to you right now — and is there something about money it’s missing?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When you hear "stuff you actually do" — what comes to mind? What money stuff are you actually dealing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Does this sound like something you’d try, or does it sound a bit like a school lesson dressed up?</a:t>
            </a:r>
          </a:p>
        </p:txBody>
      </p:sp>
    </p:spTree>
    <p:extLst>
      <p:ext uri="{BB962C8B-B14F-4D97-AF65-F5344CB8AC3E}">
        <p14:creationId xmlns:p14="http://schemas.microsoft.com/office/powerpoint/2010/main" val="364261941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5AABCC3-DA1A-05C2-E6EE-69C1A07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3BB28-B849-3F1A-538F-F456BF56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C0DEF-7420-4B66-9304-48D734E6D3D2}"/>
              </a:ext>
            </a:extLst>
          </p:cNvPr>
          <p:cNvSpPr txBox="1"/>
          <p:nvPr/>
        </p:nvSpPr>
        <p:spPr>
          <a:xfrm>
            <a:off x="479014" y="1813172"/>
            <a:ext cx="589151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dirty="0">
                <a:solidFill>
                  <a:srgbClr val="0C4D6A"/>
                </a:solidFill>
                <a:latin typeface="Luckiest Guy" panose="02000506000000020004" pitchFamily="2" charset="0"/>
              </a:rPr>
              <a:t>Ready for Real Life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A757-FADE-E239-6F14-C25649BD69FC}"/>
              </a:ext>
            </a:extLst>
          </p:cNvPr>
          <p:cNvSpPr txBox="1"/>
          <p:nvPr/>
        </p:nvSpPr>
        <p:spPr>
          <a:xfrm>
            <a:off x="6779171" y="319536"/>
            <a:ext cx="522697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Territory to explore </a:t>
            </a:r>
            <a:b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</a:br>
            <a:endParaRPr lang="en-GB" sz="2400" b="1" dirty="0">
              <a:solidFill>
                <a:srgbClr val="0C4D6A"/>
              </a:solidFill>
              <a:latin typeface="Open Runde" pitchFamily="2" charset="0"/>
              <a:ea typeface="Open Runde" pitchFamily="2" charset="0"/>
            </a:endParaRPr>
          </a:p>
          <a:p>
            <a:pPr/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Life-stage readiness — money skills framed around adult milestones and the gap between school and real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"school doesn’t explain" creates a sense of unfairness / recognition or feels like blaming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the specific milestones (rent, bills, payslips, credit) feel imminent and relevant — or distant and abstract depending on age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whether "ready for real life" motivates or feels slightly patronising ("I’m already living real life")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18316-769E-C04C-633D-936855BDBDAB}"/>
              </a:ext>
            </a:extLst>
          </p:cNvPr>
          <p:cNvSpPr txBox="1"/>
          <p:nvPr/>
        </p:nvSpPr>
        <p:spPr>
          <a:xfrm>
            <a:off x="6779171" y="2921168"/>
            <a:ext cx="52269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to explore if chosen by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When you read "rent, bills, bank accounts and credit" — does that feel like your life now, or like stuff that’s coming later?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What’s the thing on that list you’d most want someone to actually explain properly?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Does "ready for real life" make you feel like it’s helping you get ahead — or like it’s saying you’re behind?</a:t>
            </a:r>
          </a:p>
        </p:txBody>
      </p:sp>
    </p:spTree>
    <p:extLst>
      <p:ext uri="{BB962C8B-B14F-4D97-AF65-F5344CB8AC3E}">
        <p14:creationId xmlns:p14="http://schemas.microsoft.com/office/powerpoint/2010/main" val="3642619412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80480-BAFB-07E4-01D9-75DC0B8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4C395-1863-80B5-8569-AA907FE92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DC3EC-DD3D-5ABD-5200-0FC1D76DF89B}"/>
              </a:ext>
            </a:extLst>
          </p:cNvPr>
          <p:cNvSpPr txBox="1"/>
          <p:nvPr/>
        </p:nvSpPr>
        <p:spPr>
          <a:xfrm>
            <a:off x="479014" y="1176033"/>
            <a:ext cx="58915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4400" dirty="0">
                <a:solidFill>
                  <a:srgbClr val="0C4D6A"/>
                </a:solidFill>
                <a:latin typeface="Luckiest Guy" panose="02000506000000020004" pitchFamily="2" charset="0"/>
              </a:rPr>
              <a:t>Ready for Real Life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58DE50-2865-8E31-FBA5-079B28F9E4BE}"/>
              </a:ext>
            </a:extLst>
          </p:cNvPr>
          <p:cNvSpPr/>
          <p:nvPr/>
        </p:nvSpPr>
        <p:spPr>
          <a:xfrm>
            <a:off x="6956850" y="121297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1D4D7-1C12-F5E9-111E-BA43CA6EC1CB}"/>
              </a:ext>
            </a:extLst>
          </p:cNvPr>
          <p:cNvSpPr/>
          <p:nvPr/>
        </p:nvSpPr>
        <p:spPr>
          <a:xfrm>
            <a:off x="6977901" y="3086449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73015E-FBB6-E81E-3F5D-DE81CDBD0AA5}"/>
              </a:ext>
            </a:extLst>
          </p:cNvPr>
          <p:cNvSpPr/>
          <p:nvPr/>
        </p:nvSpPr>
        <p:spPr>
          <a:xfrm>
            <a:off x="6956849" y="495020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03053-9A74-541D-227B-E68D6919E786}"/>
              </a:ext>
            </a:extLst>
          </p:cNvPr>
          <p:cNvSpPr txBox="1"/>
          <p:nvPr/>
        </p:nvSpPr>
        <p:spPr>
          <a:xfrm>
            <a:off x="479014" y="3556940"/>
            <a:ext cx="58915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Learn the money stuff school doesn’t really explain.</a:t>
            </a:r>
            <a:r>
              <a:rPr lang="en-GB" sz="2400" dirty="0" err="1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D89B9-6EA5-D5BB-55DE-E9DCFDBB976E}"/>
              </a:ext>
            </a:extLst>
          </p:cNvPr>
          <p:cNvSpPr txBox="1"/>
          <p:nvPr/>
        </p:nvSpPr>
        <p:spPr>
          <a:xfrm>
            <a:off x="6820933" y="510325"/>
            <a:ext cx="50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What you'll get better at</a:t>
            </a:r>
            <a:r>
              <a:rPr lang="en-GB" sz="2800" dirty="0" err="1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95C03-9F57-DBDA-F4BB-D32DB5D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7" y="5595448"/>
            <a:ext cx="393111" cy="478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A2BBA9-1CBE-37BD-BD9F-602D9F9D9C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293" y="3737540"/>
            <a:ext cx="393111" cy="478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7EE68-FF6B-418B-3274-AAC37A9E7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946" y="1873782"/>
            <a:ext cx="393112" cy="4785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0BA6A-DDB8-AA31-A047-0CB315E1AFD9}"/>
              </a:ext>
            </a:extLst>
          </p:cNvPr>
          <p:cNvSpPr txBox="1"/>
          <p:nvPr/>
        </p:nvSpPr>
        <p:spPr>
          <a:xfrm>
            <a:off x="8129239" y="1888404"/>
            <a:ext cx="3828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Understand rent, bills, bank accounts and credit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4EE976-F36E-D102-7F67-1BDED098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167" y="1666608"/>
            <a:ext cx="985072" cy="98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A6D2C8-8B77-7DEE-D2DA-2635A62C2833}"/>
              </a:ext>
            </a:extLst>
          </p:cNvPr>
          <p:cNvSpPr txBox="1"/>
          <p:nvPr/>
        </p:nvSpPr>
        <p:spPr>
          <a:xfrm>
            <a:off x="8207806" y="3776593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Know what actually happens when you get paid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C8D5D-8310-3456-B029-A4CB44074D03}"/>
              </a:ext>
            </a:extLst>
          </p:cNvPr>
          <p:cNvSpPr txBox="1"/>
          <p:nvPr/>
        </p:nvSpPr>
        <p:spPr>
          <a:xfrm>
            <a:off x="8183311" y="5566186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Build habits that protect you from costly mistakes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C580-466C-3B9C-9D65-C30F4059D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659" y="3511264"/>
            <a:ext cx="755142" cy="95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9F9B57-E4AF-9B64-FFFD-FCB2C6A74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59" y="5268665"/>
            <a:ext cx="940782" cy="11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7114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5AABCC3-DA1A-05C2-E6EE-69C1A07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3BB28-B849-3F1A-538F-F456BF56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C0DEF-7420-4B66-9304-48D734E6D3D2}"/>
              </a:ext>
            </a:extLst>
          </p:cNvPr>
          <p:cNvSpPr txBox="1"/>
          <p:nvPr/>
        </p:nvSpPr>
        <p:spPr>
          <a:xfrm>
            <a:off x="479014" y="1813172"/>
            <a:ext cx="589151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dirty="0">
                <a:solidFill>
                  <a:srgbClr val="0C4D6A"/>
                </a:solidFill>
                <a:latin typeface="Luckiest Guy" panose="02000506000000020004" pitchFamily="2" charset="0"/>
              </a:rPr>
              <a:t>Tame Your Money Monsters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A757-FADE-E239-6F14-C25649BD69FC}"/>
              </a:ext>
            </a:extLst>
          </p:cNvPr>
          <p:cNvSpPr txBox="1"/>
          <p:nvPr/>
        </p:nvSpPr>
        <p:spPr>
          <a:xfrm>
            <a:off x="6779171" y="319536"/>
            <a:ext cx="522697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Territory to explore </a:t>
            </a:r>
            <a:b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</a:br>
            <a:endParaRPr lang="en-GB" sz="2400" b="1" dirty="0">
              <a:solidFill>
                <a:srgbClr val="0C4D6A"/>
              </a:solidFill>
              <a:latin typeface="Open Runde" pitchFamily="2" charset="0"/>
              <a:ea typeface="Open Runde" pitchFamily="2" charset="0"/>
            </a:endParaRPr>
          </a:p>
          <a:p>
            <a:pPr/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The branded game proposition — learning framed as play, not education.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the "monster" concept creates instant intrigue or feels try-hard / too young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"power up your money skills in minutes" sets the right expectation — quick, low-commitment, game-like — or sounds like an 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whether "tame the monsters that mess with your spending" gives a clear enough picture of what you’d actually 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18316-769E-C04C-633D-936855BDBDAB}"/>
              </a:ext>
            </a:extLst>
          </p:cNvPr>
          <p:cNvSpPr txBox="1"/>
          <p:nvPr/>
        </p:nvSpPr>
        <p:spPr>
          <a:xfrm>
            <a:off x="6779171" y="2921168"/>
            <a:ext cx="52269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to explore if chosen by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What do you picture when you hear "Money Monsters" — what kind of thing do you imagine it 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"Power up in minutes" — does that sound like something you’d actually open, or more like something you’d scroll past?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If a mate sent this to you, what would you think? Would you try it or take the piss?</a:t>
            </a:r>
          </a:p>
        </p:txBody>
      </p:sp>
    </p:spTree>
    <p:extLst>
      <p:ext uri="{BB962C8B-B14F-4D97-AF65-F5344CB8AC3E}">
        <p14:creationId xmlns:p14="http://schemas.microsoft.com/office/powerpoint/2010/main" val="3642619412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80480-BAFB-07E4-01D9-75DC0B8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4C395-1863-80B5-8569-AA907FE92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DC3EC-DD3D-5ABD-5200-0FC1D76DF89B}"/>
              </a:ext>
            </a:extLst>
          </p:cNvPr>
          <p:cNvSpPr txBox="1"/>
          <p:nvPr/>
        </p:nvSpPr>
        <p:spPr>
          <a:xfrm>
            <a:off x="479014" y="1176033"/>
            <a:ext cx="58915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4400" dirty="0">
                <a:solidFill>
                  <a:srgbClr val="0C4D6A"/>
                </a:solidFill>
                <a:latin typeface="Luckiest Guy" panose="02000506000000020004" pitchFamily="2" charset="0"/>
              </a:rPr>
              <a:t>Tame Your Money Monsters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58DE50-2865-8E31-FBA5-079B28F9E4BE}"/>
              </a:ext>
            </a:extLst>
          </p:cNvPr>
          <p:cNvSpPr/>
          <p:nvPr/>
        </p:nvSpPr>
        <p:spPr>
          <a:xfrm>
            <a:off x="6956850" y="121297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1D4D7-1C12-F5E9-111E-BA43CA6EC1CB}"/>
              </a:ext>
            </a:extLst>
          </p:cNvPr>
          <p:cNvSpPr/>
          <p:nvPr/>
        </p:nvSpPr>
        <p:spPr>
          <a:xfrm>
            <a:off x="6977901" y="3086449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73015E-FBB6-E81E-3F5D-DE81CDBD0AA5}"/>
              </a:ext>
            </a:extLst>
          </p:cNvPr>
          <p:cNvSpPr/>
          <p:nvPr/>
        </p:nvSpPr>
        <p:spPr>
          <a:xfrm>
            <a:off x="6956849" y="495020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03053-9A74-541D-227B-E68D6919E786}"/>
              </a:ext>
            </a:extLst>
          </p:cNvPr>
          <p:cNvSpPr txBox="1"/>
          <p:nvPr/>
        </p:nvSpPr>
        <p:spPr>
          <a:xfrm>
            <a:off x="479014" y="3556940"/>
            <a:ext cx="58915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Power up your money skills in minutes.
Tame the monsters that mess with your spending, saving and choices.</a:t>
            </a:r>
            <a:r>
              <a:rPr lang="en-GB" sz="2400" dirty="0" err="1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D89B9-6EA5-D5BB-55DE-E9DCFDBB976E}"/>
              </a:ext>
            </a:extLst>
          </p:cNvPr>
          <p:cNvSpPr txBox="1"/>
          <p:nvPr/>
        </p:nvSpPr>
        <p:spPr>
          <a:xfrm>
            <a:off x="6820933" y="510325"/>
            <a:ext cx="50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What you'll get better at</a:t>
            </a:r>
            <a:r>
              <a:rPr lang="en-GB" sz="2800" dirty="0" err="1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95C03-9F57-DBDA-F4BB-D32DB5D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7" y="5595448"/>
            <a:ext cx="393111" cy="478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A2BBA9-1CBE-37BD-BD9F-602D9F9D9C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293" y="3737540"/>
            <a:ext cx="393111" cy="478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7EE68-FF6B-418B-3274-AAC37A9E7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946" y="1873782"/>
            <a:ext cx="393112" cy="4785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0BA6A-DDB8-AA31-A047-0CB315E1AFD9}"/>
              </a:ext>
            </a:extLst>
          </p:cNvPr>
          <p:cNvSpPr txBox="1"/>
          <p:nvPr/>
        </p:nvSpPr>
        <p:spPr>
          <a:xfrm>
            <a:off x="8129239" y="1888404"/>
            <a:ext cx="3828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Spending, saving and choosing smarter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4EE976-F36E-D102-7F67-1BDED098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167" y="1666608"/>
            <a:ext cx="985072" cy="98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A6D2C8-8B77-7DEE-D2DA-2635A62C2833}"/>
              </a:ext>
            </a:extLst>
          </p:cNvPr>
          <p:cNvSpPr txBox="1"/>
          <p:nvPr/>
        </p:nvSpPr>
        <p:spPr>
          <a:xfrm>
            <a:off x="8207806" y="3776593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Spotting the traps that catch you out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C8D5D-8310-3456-B029-A4CB44074D03}"/>
              </a:ext>
            </a:extLst>
          </p:cNvPr>
          <p:cNvSpPr txBox="1"/>
          <p:nvPr/>
        </p:nvSpPr>
        <p:spPr>
          <a:xfrm>
            <a:off x="8183311" y="5566186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Knowing what to do when money stuff gets real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C580-466C-3B9C-9D65-C30F4059D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659" y="3511264"/>
            <a:ext cx="755142" cy="95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9F9B57-E4AF-9B64-FFFD-FCB2C6A74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59" y="5268665"/>
            <a:ext cx="940782" cy="11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711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5AABCC3-DA1A-05C2-E6EE-69C1A07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3BB28-B849-3F1A-538F-F456BF56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C0DEF-7420-4B66-9304-48D734E6D3D2}"/>
              </a:ext>
            </a:extLst>
          </p:cNvPr>
          <p:cNvSpPr txBox="1"/>
          <p:nvPr/>
        </p:nvSpPr>
        <p:spPr>
          <a:xfrm>
            <a:off x="479014" y="1813172"/>
            <a:ext cx="589151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dirty="0">
                <a:solidFill>
                  <a:srgbClr val="0C4D6A"/>
                </a:solidFill>
                <a:latin typeface="Luckiest Guy" panose="02000506000000020004" pitchFamily="2" charset="0"/>
              </a:rPr>
              <a:t>Train Your Money Brain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A757-FADE-E239-6F14-C25649BD69FC}"/>
              </a:ext>
            </a:extLst>
          </p:cNvPr>
          <p:cNvSpPr txBox="1"/>
          <p:nvPr/>
        </p:nvSpPr>
        <p:spPr>
          <a:xfrm>
            <a:off x="6779171" y="319536"/>
            <a:ext cx="522697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Territory to explore </a:t>
            </a:r>
            <a:b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</a:br>
            <a:endParaRPr lang="en-GB" sz="2400" b="1" dirty="0">
              <a:solidFill>
                <a:srgbClr val="0C4D6A"/>
              </a:solidFill>
              <a:latin typeface="Open Runde" pitchFamily="2" charset="0"/>
              <a:ea typeface="Open Runde" pitchFamily="2" charset="0"/>
            </a:endParaRPr>
          </a:p>
          <a:p>
            <a:pPr/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Confidence and control — replacing uncertainty with knowing what you’re doing.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"you’re already making money decisions" lands as empowering (you’re not starting from zero) or obvious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"train your brain" feels active and appealing — or like homework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whether "learn from mistakes safely" is a genuine draw — do they want a safe space to practise, or does that feel artificial?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18316-769E-C04C-633D-936855BDBDAB}"/>
              </a:ext>
            </a:extLst>
          </p:cNvPr>
          <p:cNvSpPr txBox="1"/>
          <p:nvPr/>
        </p:nvSpPr>
        <p:spPr>
          <a:xfrm>
            <a:off x="6779171" y="2921168"/>
            <a:ext cx="52269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to explore if chosen by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What kind of money decisions are you already making — even small ones?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"Train your money brain" — does that make you want to try it, or does it feel a bit cringe?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If you could practise money stuff without any real consequences, would that actually be useful — or would it feel pointless because it’s not real?</a:t>
            </a:r>
          </a:p>
        </p:txBody>
      </p:sp>
    </p:spTree>
    <p:extLst>
      <p:ext uri="{BB962C8B-B14F-4D97-AF65-F5344CB8AC3E}">
        <p14:creationId xmlns:p14="http://schemas.microsoft.com/office/powerpoint/2010/main" val="364261941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80480-BAFB-07E4-01D9-75DC0B8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4C395-1863-80B5-8569-AA907FE92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DC3EC-DD3D-5ABD-5200-0FC1D76DF89B}"/>
              </a:ext>
            </a:extLst>
          </p:cNvPr>
          <p:cNvSpPr txBox="1"/>
          <p:nvPr/>
        </p:nvSpPr>
        <p:spPr>
          <a:xfrm>
            <a:off x="479014" y="1176033"/>
            <a:ext cx="58915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4400" dirty="0">
                <a:solidFill>
                  <a:srgbClr val="0C4D6A"/>
                </a:solidFill>
                <a:latin typeface="Luckiest Guy" panose="02000506000000020004" pitchFamily="2" charset="0"/>
              </a:rPr>
              <a:t>Train Your Money Brain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58DE50-2865-8E31-FBA5-079B28F9E4BE}"/>
              </a:ext>
            </a:extLst>
          </p:cNvPr>
          <p:cNvSpPr/>
          <p:nvPr/>
        </p:nvSpPr>
        <p:spPr>
          <a:xfrm>
            <a:off x="6956850" y="121297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1D4D7-1C12-F5E9-111E-BA43CA6EC1CB}"/>
              </a:ext>
            </a:extLst>
          </p:cNvPr>
          <p:cNvSpPr/>
          <p:nvPr/>
        </p:nvSpPr>
        <p:spPr>
          <a:xfrm>
            <a:off x="6977901" y="3086449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73015E-FBB6-E81E-3F5D-DE81CDBD0AA5}"/>
              </a:ext>
            </a:extLst>
          </p:cNvPr>
          <p:cNvSpPr/>
          <p:nvPr/>
        </p:nvSpPr>
        <p:spPr>
          <a:xfrm>
            <a:off x="6956849" y="495020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03053-9A74-541D-227B-E68D6919E786}"/>
              </a:ext>
            </a:extLst>
          </p:cNvPr>
          <p:cNvSpPr txBox="1"/>
          <p:nvPr/>
        </p:nvSpPr>
        <p:spPr>
          <a:xfrm>
            <a:off x="479014" y="3556940"/>
            <a:ext cx="58915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You’re already making money decisions. Make better ones, starting now.</a:t>
            </a:r>
            <a:r>
              <a:rPr lang="en-GB" sz="2400" dirty="0" err="1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D89B9-6EA5-D5BB-55DE-E9DCFDBB976E}"/>
              </a:ext>
            </a:extLst>
          </p:cNvPr>
          <p:cNvSpPr txBox="1"/>
          <p:nvPr/>
        </p:nvSpPr>
        <p:spPr>
          <a:xfrm>
            <a:off x="6820933" y="510325"/>
            <a:ext cx="50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What you'll get better at</a:t>
            </a:r>
            <a:r>
              <a:rPr lang="en-GB" sz="2800" dirty="0" err="1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95C03-9F57-DBDA-F4BB-D32DB5D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7" y="5595448"/>
            <a:ext cx="393111" cy="478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A2BBA9-1CBE-37BD-BD9F-602D9F9D9C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293" y="3737540"/>
            <a:ext cx="393111" cy="478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7EE68-FF6B-418B-3274-AAC37A9E7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946" y="1873782"/>
            <a:ext cx="393112" cy="4785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0BA6A-DDB8-AA31-A047-0CB315E1AFD9}"/>
              </a:ext>
            </a:extLst>
          </p:cNvPr>
          <p:cNvSpPr txBox="1"/>
          <p:nvPr/>
        </p:nvSpPr>
        <p:spPr>
          <a:xfrm>
            <a:off x="8129239" y="1888404"/>
            <a:ext cx="3828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Spot good vs bad money choices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4EE976-F36E-D102-7F67-1BDED098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167" y="1666608"/>
            <a:ext cx="985072" cy="98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A6D2C8-8B77-7DEE-D2DA-2635A62C2833}"/>
              </a:ext>
            </a:extLst>
          </p:cNvPr>
          <p:cNvSpPr txBox="1"/>
          <p:nvPr/>
        </p:nvSpPr>
        <p:spPr>
          <a:xfrm>
            <a:off x="8207806" y="3776593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Think ahead before you spend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C8D5D-8310-3456-B029-A4CB44074D03}"/>
              </a:ext>
            </a:extLst>
          </p:cNvPr>
          <p:cNvSpPr txBox="1"/>
          <p:nvPr/>
        </p:nvSpPr>
        <p:spPr>
          <a:xfrm>
            <a:off x="8183311" y="5566186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Learn from mistakes safely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C580-466C-3B9C-9D65-C30F4059D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659" y="3511264"/>
            <a:ext cx="755142" cy="95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9F9B57-E4AF-9B64-FFFD-FCB2C6A74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59" y="5268665"/>
            <a:ext cx="940782" cy="11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7114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5AABCC3-DA1A-05C2-E6EE-69C1A07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3BB28-B849-3F1A-538F-F456BF56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C0DEF-7420-4B66-9304-48D734E6D3D2}"/>
              </a:ext>
            </a:extLst>
          </p:cNvPr>
          <p:cNvSpPr txBox="1"/>
          <p:nvPr/>
        </p:nvSpPr>
        <p:spPr>
          <a:xfrm>
            <a:off x="479014" y="1813172"/>
            <a:ext cx="589151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dirty="0">
                <a:solidFill>
                  <a:srgbClr val="0C4D6A"/>
                </a:solidFill>
                <a:latin typeface="Luckiest Guy" panose="02000506000000020004" pitchFamily="2" charset="0"/>
              </a:rPr>
              <a:t>Money Stuff Nobody Explains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A757-FADE-E239-6F14-C25649BD69FC}"/>
              </a:ext>
            </a:extLst>
          </p:cNvPr>
          <p:cNvSpPr txBox="1"/>
          <p:nvPr/>
        </p:nvSpPr>
        <p:spPr>
          <a:xfrm>
            <a:off x="6779171" y="319536"/>
            <a:ext cx="522697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Territory to explore </a:t>
            </a:r>
            <a:b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</a:br>
            <a:endParaRPr lang="en-GB" sz="2400" b="1" dirty="0">
              <a:solidFill>
                <a:srgbClr val="0C4D6A"/>
              </a:solidFill>
              <a:latin typeface="Open Runde" pitchFamily="2" charset="0"/>
              <a:ea typeface="Open Runde" pitchFamily="2" charset="0"/>
            </a:endParaRPr>
          </a:p>
          <a:p>
            <a:pPr/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The hidden knowledge gap — things about money you’re expected to know but were never taught.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"you’re supposed to just know" creates recognition and relief — or whether it feels dramatic / exaggerated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Tests whether the bullets feel like genuine insider knowledge ("the stuff that catches people out") or just generic money advice repackaged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z="160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whether this framing makes them lean in with curiosity or pull back because admitting you don’t know feels uncomfortable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18316-769E-C04C-633D-936855BDBDAB}"/>
              </a:ext>
            </a:extLst>
          </p:cNvPr>
          <p:cNvSpPr txBox="1"/>
          <p:nvPr/>
        </p:nvSpPr>
        <p:spPr>
          <a:xfrm>
            <a:off x="6779171" y="2921168"/>
            <a:ext cx="52269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to explore if chosen by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Is there something about money you’ve had to figure out on your own that you wish someone had just told you?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"Money stuff nobody explains" — does that feel true to you, or do you think there’s loads of info out there already?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If you saw this, would you want to check it out by yourself — or would you only do it if a friend was doing it too?</a:t>
            </a:r>
          </a:p>
        </p:txBody>
      </p:sp>
    </p:spTree>
    <p:extLst>
      <p:ext uri="{BB962C8B-B14F-4D97-AF65-F5344CB8AC3E}">
        <p14:creationId xmlns:p14="http://schemas.microsoft.com/office/powerpoint/2010/main" val="3642619412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80480-BAFB-07E4-01D9-75DC0B8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4C395-1863-80B5-8569-AA907FE92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DC3EC-DD3D-5ABD-5200-0FC1D76DF89B}"/>
              </a:ext>
            </a:extLst>
          </p:cNvPr>
          <p:cNvSpPr txBox="1"/>
          <p:nvPr/>
        </p:nvSpPr>
        <p:spPr>
          <a:xfrm>
            <a:off x="479014" y="1176033"/>
            <a:ext cx="58915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4400" dirty="0">
                <a:solidFill>
                  <a:srgbClr val="0C4D6A"/>
                </a:solidFill>
                <a:latin typeface="Luckiest Guy" panose="02000506000000020004" pitchFamily="2" charset="0"/>
              </a:rPr>
              <a:t>Money Stuff Nobody Explains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58DE50-2865-8E31-FBA5-079B28F9E4BE}"/>
              </a:ext>
            </a:extLst>
          </p:cNvPr>
          <p:cNvSpPr/>
          <p:nvPr/>
        </p:nvSpPr>
        <p:spPr>
          <a:xfrm>
            <a:off x="6956850" y="121297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1D4D7-1C12-F5E9-111E-BA43CA6EC1CB}"/>
              </a:ext>
            </a:extLst>
          </p:cNvPr>
          <p:cNvSpPr/>
          <p:nvPr/>
        </p:nvSpPr>
        <p:spPr>
          <a:xfrm>
            <a:off x="6977901" y="3086449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73015E-FBB6-E81E-3F5D-DE81CDBD0AA5}"/>
              </a:ext>
            </a:extLst>
          </p:cNvPr>
          <p:cNvSpPr/>
          <p:nvPr/>
        </p:nvSpPr>
        <p:spPr>
          <a:xfrm>
            <a:off x="6956849" y="495020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03053-9A74-541D-227B-E68D6919E786}"/>
              </a:ext>
            </a:extLst>
          </p:cNvPr>
          <p:cNvSpPr txBox="1"/>
          <p:nvPr/>
        </p:nvSpPr>
        <p:spPr>
          <a:xfrm>
            <a:off x="479014" y="3556940"/>
            <a:ext cx="58915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The stuff about money you’re supposed to just know, but nobody actually tells you.</a:t>
            </a:r>
            <a:r>
              <a:rPr lang="en-GB" sz="2400" dirty="0" err="1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D89B9-6EA5-D5BB-55DE-E9DCFDBB976E}"/>
              </a:ext>
            </a:extLst>
          </p:cNvPr>
          <p:cNvSpPr txBox="1"/>
          <p:nvPr/>
        </p:nvSpPr>
        <p:spPr>
          <a:xfrm>
            <a:off x="6820933" y="510325"/>
            <a:ext cx="50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What you'll learn</a:t>
            </a:r>
            <a:r>
              <a:rPr lang="en-GB" sz="2800" dirty="0" err="1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/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95C03-9F57-DBDA-F4BB-D32DB5D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7" y="5595448"/>
            <a:ext cx="393111" cy="478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A2BBA9-1CBE-37BD-BD9F-602D9F9D9C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293" y="3737540"/>
            <a:ext cx="393111" cy="478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7EE68-FF6B-418B-3274-AAC37A9E7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946" y="1873782"/>
            <a:ext cx="393112" cy="4785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0BA6A-DDB8-AA31-A047-0CB315E1AFD9}"/>
              </a:ext>
            </a:extLst>
          </p:cNvPr>
          <p:cNvSpPr txBox="1"/>
          <p:nvPr/>
        </p:nvSpPr>
        <p:spPr>
          <a:xfrm>
            <a:off x="8129239" y="1888404"/>
            <a:ext cx="3828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How to make your money go further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4EE976-F36E-D102-7F67-1BDED098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167" y="1666608"/>
            <a:ext cx="985072" cy="98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A6D2C8-8B77-7DEE-D2DA-2635A62C2833}"/>
              </a:ext>
            </a:extLst>
          </p:cNvPr>
          <p:cNvSpPr txBox="1"/>
          <p:nvPr/>
        </p:nvSpPr>
        <p:spPr>
          <a:xfrm>
            <a:off x="8207806" y="3776593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What’s actually worth saving for (and how)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C8D5D-8310-3456-B029-A4CB44074D03}"/>
              </a:ext>
            </a:extLst>
          </p:cNvPr>
          <p:cNvSpPr txBox="1"/>
          <p:nvPr/>
        </p:nvSpPr>
        <p:spPr>
          <a:xfrm>
            <a:off x="8183311" y="5566186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The stuff that catches people out, before it catches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C580-466C-3B9C-9D65-C30F4059D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659" y="3511264"/>
            <a:ext cx="755142" cy="95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9F9B57-E4AF-9B64-FFFD-FCB2C6A74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59" y="5268665"/>
            <a:ext cx="940782" cy="11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7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67B310-AFDF-F14D-B8AD-FDD9FB45A5D9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60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Luckiest Guy</vt:lpstr>
      <vt:lpstr>Open Runde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Speak</dc:creator>
  <cp:lastModifiedBy>Matt Speak</cp:lastModifiedBy>
  <cp:revision>7</cp:revision>
  <dcterms:created xsi:type="dcterms:W3CDTF">2026-02-16T10:07:40Z</dcterms:created>
  <dcterms:modified xsi:type="dcterms:W3CDTF">2026-02-17T10:03:40Z</dcterms:modified>
</cp:coreProperties>
</file>