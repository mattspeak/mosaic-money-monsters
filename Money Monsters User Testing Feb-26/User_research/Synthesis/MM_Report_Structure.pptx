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notesMasterIdLst>
    <p:notesMasterId r:id="rId6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notesMaster" Target="notesMasters/notesMaster1.xml"/><Relationship Id="rId70" Type="http://schemas.openxmlformats.org/officeDocument/2006/relationships/presProps" Target="presProps.xml"/><Relationship Id="rId71" Type="http://schemas.openxmlformats.org/officeDocument/2006/relationships/viewProps" Target="viewProps.xml"/><Relationship Id="rId72" Type="http://schemas.openxmlformats.org/officeDocument/2006/relationships/theme" Target="theme/theme1.xml"/><Relationship Id="rId7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548640"/>
            <a:ext cx="3200400" cy="3200400"/>
          </a:xfrm>
          <a:prstGeom prst="ellipse">
            <a:avLst/>
          </a:prstGeom>
          <a:solidFill>
            <a:srgbClr val="F4623A">
              <a:alpha val="22000"/>
            </a:srgbClr>
          </a:solidFill>
          <a:ln w="12700">
            <a:solidFill>
              <a:srgbClr val="F4623A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2560320" cy="25603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84832"/>
            <a:ext cx="5029200" cy="4572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502920"/>
            <a:ext cx="7772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Monsters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Research Report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Fieldwork — February 2026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MethodMagic  |  Confidential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640080"/>
            <a:ext cx="3474720" cy="3474720"/>
          </a:xfrm>
          <a:prstGeom prst="ellipse">
            <a:avLst/>
          </a:prstGeom>
          <a:solidFill>
            <a:srgbClr val="F4623A">
              <a:alpha val="20000"/>
            </a:srgbClr>
          </a:solidFill>
          <a:ln w="12700">
            <a:solidFill>
              <a:srgbClr val="F4623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749040"/>
            <a:ext cx="2011680" cy="201168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3657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Approach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41248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8503920" cy="3822192"/>
          </a:xfrm>
          <a:prstGeom prst="rect">
            <a:avLst/>
          </a:prstGeom>
          <a:solidFill>
            <a:srgbClr val="F5F7FA"/>
          </a:solidFill>
          <a:ln w="1905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2715768"/>
            <a:ext cx="8174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The Headline Verdict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41248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8503920" cy="3822192"/>
          </a:xfrm>
          <a:prstGeom prst="rect">
            <a:avLst/>
          </a:prstGeom>
          <a:solidFill>
            <a:srgbClr val="F5F7FA"/>
          </a:solidFill>
          <a:ln w="1905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2715768"/>
            <a:ext cx="8174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 The Three Biggest Things to Act On Before Launch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1.3.1 — Focus on 1 segment and ensure content is tailored to their needs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1.3.2 — On-boarding / initial app experience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5468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6440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8932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1.3.3 — Develop a suite of gamified learning mechanics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8932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9904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 What’s Working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41248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8503920" cy="3822192"/>
          </a:xfrm>
          <a:prstGeom prst="rect">
            <a:avLst/>
          </a:prstGeom>
          <a:solidFill>
            <a:srgbClr val="F5F7FA"/>
          </a:solidFill>
          <a:ln w="1905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2715768"/>
            <a:ext cx="8174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640080"/>
            <a:ext cx="3474720" cy="3474720"/>
          </a:xfrm>
          <a:prstGeom prst="ellipse">
            <a:avLst/>
          </a:prstGeom>
          <a:solidFill>
            <a:srgbClr val="F4623A">
              <a:alpha val="20000"/>
            </a:srgbClr>
          </a:solidFill>
          <a:ln w="12700">
            <a:solidFill>
              <a:srgbClr val="F4623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749040"/>
            <a:ext cx="2011680" cy="201168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3657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Spoke To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Participant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41248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8503920" cy="3822192"/>
          </a:xfrm>
          <a:prstGeom prst="rect">
            <a:avLst/>
          </a:prstGeom>
          <a:solidFill>
            <a:srgbClr val="F5F7FA"/>
          </a:solidFill>
          <a:ln w="1905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2715768"/>
            <a:ext cx="8174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overview of 3 recruited segments — add your thinking here…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Participant Context and Money Habits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41248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411480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in their life — income, spending, saving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517904"/>
            <a:ext cx="411480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3017520"/>
            <a:ext cx="3895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17720" y="987552"/>
            <a:ext cx="411480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005840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manage their money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17720" y="1517904"/>
            <a:ext cx="411480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27448" y="3017520"/>
            <a:ext cx="3895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What They Know About Money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/ Knowledge on money management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learn(ed) about money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5468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6440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8932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wish they knew about money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8932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9904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 Learning Styles of Young People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41248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411480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learning styles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517904"/>
            <a:ext cx="411480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3017520"/>
            <a:ext cx="3895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17720" y="987552"/>
            <a:ext cx="411480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005840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styles mapped by our 3 segments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17720" y="1517904"/>
            <a:ext cx="411480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27448" y="3017520"/>
            <a:ext cx="3895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640080"/>
            <a:ext cx="3474720" cy="3474720"/>
          </a:xfrm>
          <a:prstGeom prst="ellipse">
            <a:avLst/>
          </a:prstGeom>
          <a:solidFill>
            <a:srgbClr val="F4623A">
              <a:alpha val="20000"/>
            </a:srgbClr>
          </a:solidFill>
          <a:ln w="12700">
            <a:solidFill>
              <a:srgbClr val="F4623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749040"/>
            <a:ext cx="2011680" cy="201168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3657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Young People Actually Want from Financial Education (JTBD)</a:t>
            </a:r>
            <a:endParaRPr lang="en-US" sz="3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JTBD Framework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41248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8503920" cy="3822192"/>
          </a:xfrm>
          <a:prstGeom prst="rect">
            <a:avLst/>
          </a:prstGeom>
          <a:solidFill>
            <a:srgbClr val="F5F7FA"/>
          </a:solidFill>
          <a:ln w="1905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2715768"/>
            <a:ext cx="8174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 simple and practical explanation of JTBD thinking in the context of this report, with segment-level distinctions to guide content and positioning decisions…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The Universal Truth: The Knowing–Doing Gap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41248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8503920" cy="1417320"/>
          </a:xfrm>
          <a:prstGeom prst="rect">
            <a:avLst/>
          </a:prstGeom>
          <a:solidFill>
            <a:srgbClr val="E8EDF5"/>
          </a:solidFill>
          <a:ln w="12700">
            <a:solidFill>
              <a:srgbClr val="B8CA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87552"/>
            <a:ext cx="54864" cy="141732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060704"/>
            <a:ext cx="8247888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knowing–doing gap is a universal truth across all segments — it refers to the gap between what they know about money and what they actually do with their money. This gap is often caused by a lack of financial education and motivation to change behaviour.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578608"/>
            <a:ext cx="8503920" cy="2286000"/>
          </a:xfrm>
          <a:prstGeom prst="rect">
            <a:avLst/>
          </a:prstGeom>
          <a:solidFill>
            <a:srgbClr val="F5F7FA"/>
          </a:solidFill>
          <a:ln w="1905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" y="3538728"/>
            <a:ext cx="8174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direction on how to address the knowing–doing gap in the app…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Young Teens — Jobs to Be Done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41248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19659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1783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head start on peers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517904"/>
            <a:ext cx="19659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3017520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0" y="987552"/>
            <a:ext cx="19659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005840"/>
            <a:ext cx="1783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money last longer (paycheck-to-paycheck reality)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377440" y="1517904"/>
            <a:ext cx="19659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87168" y="3017520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34840" y="987552"/>
            <a:ext cx="19659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1005840"/>
            <a:ext cx="1783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towards something specific and near-term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434840" y="1517904"/>
            <a:ext cx="19659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44568" y="3017520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92240" y="987552"/>
            <a:ext cx="19659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1005840"/>
            <a:ext cx="1783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money stuff that no one explains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492240" y="1517904"/>
            <a:ext cx="19659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01968" y="3017520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Older Teens — Jobs to Be Done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smarter decisions with existing money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scams and financial traps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5468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6440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8932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fall behind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8932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9904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 Young Adults — Jobs to Be Done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feel out of depth when real situations arise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mechanics behind financial products (credit, interest, debt)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5468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6440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8932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getting caught out by traps and hidden costs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8932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9904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 What This Means for Content, Positioning, and Lesson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41248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8503920" cy="3822192"/>
          </a:xfrm>
          <a:prstGeom prst="rect">
            <a:avLst/>
          </a:prstGeom>
          <a:solidFill>
            <a:srgbClr val="F5F7FA"/>
          </a:solidFill>
          <a:ln w="1905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2715768"/>
            <a:ext cx="8174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640080"/>
            <a:ext cx="3474720" cy="3474720"/>
          </a:xfrm>
          <a:prstGeom prst="ellipse">
            <a:avLst/>
          </a:prstGeom>
          <a:solidFill>
            <a:srgbClr val="F4623A">
              <a:alpha val="20000"/>
            </a:srgbClr>
          </a:solidFill>
          <a:ln w="12700">
            <a:solidFill>
              <a:srgbClr val="F4623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749040"/>
            <a:ext cx="2011680" cy="201168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3657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and Content: What to Teach</a:t>
            </a:r>
            <a:endParaRPr lang="en-US" sz="3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Content Relevance by Segment; Mapped to Jobs to Be Done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Teens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Teens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5468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6440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8932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8932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9904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Topic Breadth and Depth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41248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411480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topics are appropriate for which segment — and why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517904"/>
            <a:ext cx="411480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3017520"/>
            <a:ext cx="3895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17720" y="987552"/>
            <a:ext cx="411480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005840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to advance, retire, or gate by segment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17720" y="1517904"/>
            <a:ext cx="411480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27448" y="3017520"/>
            <a:ext cx="3895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 Framing Topics in a Relevant Way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41248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8503920" cy="3822192"/>
          </a:xfrm>
          <a:prstGeom prst="rect">
            <a:avLst/>
          </a:prstGeom>
          <a:solidFill>
            <a:srgbClr val="F5F7FA"/>
          </a:solidFill>
          <a:ln w="1905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2715768"/>
            <a:ext cx="8174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640080"/>
            <a:ext cx="3474720" cy="3474720"/>
          </a:xfrm>
          <a:prstGeom prst="ellipse">
            <a:avLst/>
          </a:prstGeom>
          <a:solidFill>
            <a:srgbClr val="F4623A">
              <a:alpha val="20000"/>
            </a:srgbClr>
          </a:solidFill>
          <a:ln w="12700">
            <a:solidFill>
              <a:srgbClr val="F4623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749040"/>
            <a:ext cx="2011680" cy="201168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3657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Proposition: How the Financial Literacy Solution Lands</a:t>
            </a:r>
            <a:endParaRPr lang="en-US" sz="3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 The Three Propositions Tested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41248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8503920" cy="3822192"/>
          </a:xfrm>
          <a:prstGeom prst="rect">
            <a:avLst/>
          </a:prstGeom>
          <a:solidFill>
            <a:srgbClr val="F5F7FA"/>
          </a:solidFill>
          <a:ln w="1905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2715768"/>
            <a:ext cx="8174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 What Resonated and Why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“Money stuff nobody explains”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“Train your money brain”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5468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6440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8932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“Real money skills for real life”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8932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9904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 Segment-Level Proposition Response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Teens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Teens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5468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6440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8932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8932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9904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 What Should Come “Above the Fold”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41248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8503920" cy="3822192"/>
          </a:xfrm>
          <a:prstGeom prst="rect">
            <a:avLst/>
          </a:prstGeom>
          <a:solidFill>
            <a:srgbClr val="F5F7FA"/>
          </a:solidFill>
          <a:ln w="1905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2715768"/>
            <a:ext cx="8174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  Language and Framing Principles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41248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8503920" cy="3822192"/>
          </a:xfrm>
          <a:prstGeom prst="rect">
            <a:avLst/>
          </a:prstGeom>
          <a:solidFill>
            <a:srgbClr val="F5F7FA"/>
          </a:solidFill>
          <a:ln w="1905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2715768"/>
            <a:ext cx="8174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640080"/>
            <a:ext cx="3474720" cy="3474720"/>
          </a:xfrm>
          <a:prstGeom prst="ellipse">
            <a:avLst/>
          </a:prstGeom>
          <a:solidFill>
            <a:srgbClr val="F4623A">
              <a:alpha val="20000"/>
            </a:srgbClr>
          </a:solidFill>
          <a:ln w="12700">
            <a:solidFill>
              <a:srgbClr val="F4623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749040"/>
            <a:ext cx="2011680" cy="201168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3657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Concept: First Impressions and Visual Comprehension</a:t>
            </a:r>
            <a:endParaRPr lang="en-US" sz="3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 Immediate Impressions &amp; Expectations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41248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8503920" cy="3822192"/>
          </a:xfrm>
          <a:prstGeom prst="rect">
            <a:avLst/>
          </a:prstGeom>
          <a:solidFill>
            <a:srgbClr val="F5F7FA"/>
          </a:solidFill>
          <a:ln w="1905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2715768"/>
            <a:ext cx="8174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 The Aesthetic Age-Gap Challenge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current design works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starts to fail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5468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6440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8932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actively damages credibility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8932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9904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 The Monster Characters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507492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4892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and character analysis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517904"/>
            <a:ext cx="507492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3017520"/>
            <a:ext cx="4855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532120" y="987552"/>
            <a:ext cx="3291840" cy="3822192"/>
          </a:xfrm>
          <a:prstGeom prst="rect">
            <a:avLst/>
          </a:prstGeom>
          <a:solidFill>
            <a:srgbClr val="E0E8F2"/>
          </a:solidFill>
          <a:ln w="12700">
            <a:solidFill>
              <a:srgbClr val="C5D1E0"/>
            </a:solidFill>
            <a:prstDash val="lgDash"/>
          </a:ln>
        </p:spPr>
      </p:sp>
      <p:sp>
        <p:nvSpPr>
          <p:cNvPr id="10" name="Shape 8"/>
          <p:cNvSpPr/>
          <p:nvPr/>
        </p:nvSpPr>
        <p:spPr>
          <a:xfrm>
            <a:off x="6949440" y="2350008"/>
            <a:ext cx="457200" cy="457200"/>
          </a:xfrm>
          <a:prstGeom prst="ellipse">
            <a:avLst/>
          </a:prstGeom>
          <a:solidFill>
            <a:srgbClr val="C5D1E0"/>
          </a:solidFill>
          <a:ln w="12700">
            <a:solidFill>
              <a:srgbClr val="C5D1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23560" y="28072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monster character images here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 Structural Visual Conventions: What Works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41248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411480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Map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517904"/>
            <a:ext cx="411480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3017520"/>
            <a:ext cx="3895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17720" y="987552"/>
            <a:ext cx="411480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005840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Logic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17720" y="1517904"/>
            <a:ext cx="411480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27448" y="3017520"/>
            <a:ext cx="3895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 The Core Design Tension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41248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8503920" cy="1417320"/>
          </a:xfrm>
          <a:prstGeom prst="rect">
            <a:avLst/>
          </a:prstGeom>
          <a:solidFill>
            <a:srgbClr val="E8EDF5"/>
          </a:solidFill>
          <a:ln w="12700">
            <a:solidFill>
              <a:srgbClr val="B8CA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87552"/>
            <a:ext cx="54864" cy="141732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060704"/>
            <a:ext cx="8247888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Aesthetic Can’t Serve All Three Broad Segments — need for more precise sub-sections.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578608"/>
            <a:ext cx="8503920" cy="2286000"/>
          </a:xfrm>
          <a:prstGeom prst="rect">
            <a:avLst/>
          </a:prstGeom>
          <a:solidFill>
            <a:srgbClr val="F5F7FA"/>
          </a:solidFill>
          <a:ln w="1905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" y="3538728"/>
            <a:ext cx="8174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640080"/>
            <a:ext cx="3474720" cy="3474720"/>
          </a:xfrm>
          <a:prstGeom prst="ellipse">
            <a:avLst/>
          </a:prstGeom>
          <a:solidFill>
            <a:srgbClr val="F4623A">
              <a:alpha val="20000"/>
            </a:srgbClr>
          </a:solidFill>
          <a:ln w="12700">
            <a:solidFill>
              <a:srgbClr val="F4623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749040"/>
            <a:ext cx="2011680" cy="201168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3657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3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 What the Onboarding Experience Involved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507492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4892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flow description and observations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517904"/>
            <a:ext cx="507492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3017520"/>
            <a:ext cx="4855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532120" y="987552"/>
            <a:ext cx="3291840" cy="3822192"/>
          </a:xfrm>
          <a:prstGeom prst="rect">
            <a:avLst/>
          </a:prstGeom>
          <a:solidFill>
            <a:srgbClr val="E0E8F2"/>
          </a:solidFill>
          <a:ln w="12700">
            <a:solidFill>
              <a:srgbClr val="C5D1E0"/>
            </a:solidFill>
            <a:prstDash val="lgDash"/>
          </a:ln>
        </p:spPr>
      </p:sp>
      <p:sp>
        <p:nvSpPr>
          <p:cNvPr id="10" name="Shape 8"/>
          <p:cNvSpPr/>
          <p:nvPr/>
        </p:nvSpPr>
        <p:spPr>
          <a:xfrm>
            <a:off x="6949440" y="2350008"/>
            <a:ext cx="457200" cy="457200"/>
          </a:xfrm>
          <a:prstGeom prst="ellipse">
            <a:avLst/>
          </a:prstGeom>
          <a:solidFill>
            <a:srgbClr val="C5D1E0"/>
          </a:solidFill>
          <a:ln w="12700">
            <a:solidFill>
              <a:srgbClr val="C5D1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23560" y="28072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screens from research stimuli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 Participant Perception of Research Stimuli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and non-judgment: broadly effective across all segments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5468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6440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8932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difficulty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8932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9904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 Future Onboarding Experience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41248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411480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expectations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517904"/>
            <a:ext cx="411480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3017520"/>
            <a:ext cx="3895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17720" y="987552"/>
            <a:ext cx="411480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005840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Recommendations by Segment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17720" y="1517904"/>
            <a:ext cx="411480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27448" y="3017520"/>
            <a:ext cx="3895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640080"/>
            <a:ext cx="3474720" cy="3474720"/>
          </a:xfrm>
          <a:prstGeom prst="ellipse">
            <a:avLst/>
          </a:prstGeom>
          <a:solidFill>
            <a:srgbClr val="F4623A">
              <a:alpha val="20000"/>
            </a:srgbClr>
          </a:solidFill>
          <a:ln w="12700">
            <a:solidFill>
              <a:srgbClr val="F4623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749040"/>
            <a:ext cx="2011680" cy="201168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3657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Design: Learning Mechanics and Comprehension</a:t>
            </a:r>
            <a:endParaRPr lang="en-US" sz="3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  The Creative Vehicle: Dialogue vs. Lecture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507492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4892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dialogue / scenario format is resonating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517904"/>
            <a:ext cx="5074920" cy="1312164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2027682"/>
            <a:ext cx="4855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967228"/>
            <a:ext cx="507492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985516"/>
            <a:ext cx="4892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of character-based scenarios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3497580"/>
            <a:ext cx="5074920" cy="1312164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9768" y="4007358"/>
            <a:ext cx="4855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532120" y="987552"/>
            <a:ext cx="3291840" cy="3822192"/>
          </a:xfrm>
          <a:prstGeom prst="rect">
            <a:avLst/>
          </a:prstGeom>
          <a:solidFill>
            <a:srgbClr val="E0E8F2"/>
          </a:solidFill>
          <a:ln w="12700">
            <a:solidFill>
              <a:srgbClr val="C5D1E0"/>
            </a:solidFill>
            <a:prstDash val="lgDash"/>
          </a:ln>
        </p:spPr>
      </p:sp>
      <p:sp>
        <p:nvSpPr>
          <p:cNvPr id="14" name="Shape 12"/>
          <p:cNvSpPr/>
          <p:nvPr/>
        </p:nvSpPr>
        <p:spPr>
          <a:xfrm>
            <a:off x="6949440" y="2350008"/>
            <a:ext cx="457200" cy="457200"/>
          </a:xfrm>
          <a:prstGeom prst="ellipse">
            <a:avLst/>
          </a:prstGeom>
          <a:solidFill>
            <a:srgbClr val="C5D1E0"/>
          </a:solidFill>
          <a:ln w="12700">
            <a:solidFill>
              <a:srgbClr val="C5D1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28072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screens from research stimuli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  Question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questions are presented: what works (e.g. length, role/situation)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Try-again and feedback mechanics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5468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6440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8932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principles for learning (key detail + question together, overlays and pop-ups)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8932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9904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  Lesson Length and Session Duration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41248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411480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length: broadly appropriate for YT/OT; format mismatch for YA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517904"/>
            <a:ext cx="411480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3017520"/>
            <a:ext cx="3895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17720" y="987552"/>
            <a:ext cx="411480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005840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mobile context: commuting, idle time, short-burst use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17720" y="1517904"/>
            <a:ext cx="411480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27448" y="3017520"/>
            <a:ext cx="3895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640080"/>
            <a:ext cx="3474720" cy="3474720"/>
          </a:xfrm>
          <a:prstGeom prst="ellipse">
            <a:avLst/>
          </a:prstGeom>
          <a:solidFill>
            <a:srgbClr val="F4623A">
              <a:alpha val="20000"/>
            </a:srgbClr>
          </a:solidFill>
          <a:ln w="12700">
            <a:solidFill>
              <a:srgbClr val="F4623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749040"/>
            <a:ext cx="2011680" cy="201168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3657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Gamification: Engagement, Motivation, and Momentum</a:t>
            </a:r>
            <a:endParaRPr lang="en-US" sz="3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  What Gamification Features Are in the App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41248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8503920" cy="3822192"/>
          </a:xfrm>
          <a:prstGeom prst="rect">
            <a:avLst/>
          </a:prstGeom>
          <a:solidFill>
            <a:srgbClr val="F5F7FA"/>
          </a:solidFill>
          <a:ln w="1905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2715768"/>
            <a:ext cx="8174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  What’s Working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Monster collection: incentive that lands with YT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Streaks: effective baseline mechanic across YT and some OT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5468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6440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8932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and progression maps: understood and motivating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8932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9904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  What’s Missing or Underdeveloped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gamification: a clear expectation from all segments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Consequence-based gamification (desire for more purpose to collecting monsters)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5468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6440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8932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and competitive features (leaderboards, peer comparison)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8932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9904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  Where Gamification Fails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Teens — desire for greater gameplay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Teens — desire for greater purpose in collecting monsters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5468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6440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8932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— risk of being counter-productive; reinforces ‘childish’ perception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8932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9904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640080"/>
            <a:ext cx="3474720" cy="3474720"/>
          </a:xfrm>
          <a:prstGeom prst="ellipse">
            <a:avLst/>
          </a:prstGeom>
          <a:solidFill>
            <a:srgbClr val="F4623A">
              <a:alpha val="20000"/>
            </a:srgbClr>
          </a:solidFill>
          <a:ln w="12700">
            <a:solidFill>
              <a:srgbClr val="F4623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749040"/>
            <a:ext cx="2011680" cy="201168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3657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Design and Product Tensions</a:t>
            </a:r>
            <a:endParaRPr lang="en-US" sz="3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  One App, Three Audiences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41248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8503920" cy="3822192"/>
          </a:xfrm>
          <a:prstGeom prst="rect">
            <a:avLst/>
          </a:prstGeom>
          <a:solidFill>
            <a:srgbClr val="F5F7FA"/>
          </a:solidFill>
          <a:ln w="1905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2715768"/>
            <a:ext cx="8174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  Playful vs. Credible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41248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411480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playful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517904"/>
            <a:ext cx="411480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3017520"/>
            <a:ext cx="3895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17720" y="987552"/>
            <a:ext cx="411480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005840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credible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17720" y="1517904"/>
            <a:ext cx="411480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27448" y="3017520"/>
            <a:ext cx="3895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  Daily Habit vs. Situational Reference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41248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411480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habit use patterns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517904"/>
            <a:ext cx="411480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3017520"/>
            <a:ext cx="3895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17720" y="987552"/>
            <a:ext cx="411480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005840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Situational reference use patterns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17720" y="1517904"/>
            <a:ext cx="411480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27448" y="3017520"/>
            <a:ext cx="3895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  Game vs. Tool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41248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411480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 lens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517904"/>
            <a:ext cx="411480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3017520"/>
            <a:ext cx="3895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17720" y="987552"/>
            <a:ext cx="411480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005840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lens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17720" y="1517904"/>
            <a:ext cx="411480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27448" y="3017520"/>
            <a:ext cx="3895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640080"/>
            <a:ext cx="3474720" cy="3474720"/>
          </a:xfrm>
          <a:prstGeom prst="ellipse">
            <a:avLst/>
          </a:prstGeom>
          <a:solidFill>
            <a:srgbClr val="F4623A">
              <a:alpha val="20000"/>
            </a:srgbClr>
          </a:solidFill>
          <a:ln w="12700">
            <a:solidFill>
              <a:srgbClr val="F4623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749040"/>
            <a:ext cx="2011680" cy="201168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3657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Verdicts and Launch Readiness</a:t>
            </a:r>
            <a:endParaRPr lang="en-US" sz="3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  Young Teens (13–15): Best Bet for Launch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working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needs fixing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5468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6440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8932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readiness rating and conditions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8932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9904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  Older Teens (16–18): Needs Design Work to Convert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working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failing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5468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6440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8932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readiness rating and conditions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8932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9904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  Young Adults (18–25): Right Content, Wrong Vehicle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411480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working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517904"/>
            <a:ext cx="4114800" cy="1252728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1997964"/>
            <a:ext cx="3895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17720" y="987552"/>
            <a:ext cx="411480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005840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misfit: the delivery model doesn’t match the usage pattern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17720" y="1517904"/>
            <a:ext cx="4114800" cy="1252728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27448" y="1997964"/>
            <a:ext cx="3895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862072"/>
            <a:ext cx="411480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880360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YA-appropriate product could look like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" y="3392424"/>
            <a:ext cx="4114800" cy="1252728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9768" y="3872484"/>
            <a:ext cx="3895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17720" y="2862072"/>
            <a:ext cx="411480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880360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readiness rating and conditions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17720" y="3392424"/>
            <a:ext cx="4114800" cy="1252728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27448" y="3872484"/>
            <a:ext cx="3895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640080"/>
            <a:ext cx="3474720" cy="3474720"/>
          </a:xfrm>
          <a:prstGeom prst="ellipse">
            <a:avLst/>
          </a:prstGeom>
          <a:solidFill>
            <a:srgbClr val="F4623A">
              <a:alpha val="20000"/>
            </a:srgbClr>
          </a:solidFill>
          <a:ln w="12700">
            <a:solidFill>
              <a:srgbClr val="F4623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749040"/>
            <a:ext cx="2011680" cy="201168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3657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Recommendations</a:t>
            </a:r>
            <a:endParaRPr lang="en-US" sz="3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  v1 of Money Monsters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the launch learning content and mechanics (and do it out of Figma)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the topics — add glossary support for unfamiliar terms in lessons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5468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6440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8932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 gamification mechanics (e.g. XPs)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8932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9904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12.2  Queue for Version 2+  (Part 1)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selection and non-linear learning paths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interactive question formats (beyond multiple choice)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5468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6440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8932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Bolder gamification (e.g. spend / earn XPs)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8932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9904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12.2  Queue for Version 2+  (Part 2)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features: leaderboards, peer comparison, sharing monsters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Age-differentiated visual themes or separate skins by segment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5468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6440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8932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Situational referencing via Onboarding (e.g. student-specific content: overdrafts, student loans)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8932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9904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640080"/>
            <a:ext cx="3474720" cy="3474720"/>
          </a:xfrm>
          <a:prstGeom prst="ellipse">
            <a:avLst/>
          </a:prstGeom>
          <a:solidFill>
            <a:srgbClr val="F4623A">
              <a:alpha val="20000"/>
            </a:srgbClr>
          </a:solidFill>
          <a:ln w="12700">
            <a:solidFill>
              <a:srgbClr val="F4623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749040"/>
            <a:ext cx="2011680" cy="201168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3657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Direction and Retention</a:t>
            </a:r>
            <a:endParaRPr lang="en-US" sz="3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  Is the App Premium-Ready?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41248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8503920" cy="3822192"/>
          </a:xfrm>
          <a:prstGeom prst="rect">
            <a:avLst/>
          </a:prstGeom>
          <a:solidFill>
            <a:srgbClr val="F5F7FA"/>
          </a:solidFill>
          <a:ln w="1905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2715768"/>
            <a:ext cx="8174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11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  What Each Segment Says They’d Pay For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Teens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Teens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5468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6440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89320" y="987552"/>
            <a:ext cx="2651760" cy="530352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00584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89320" y="1517904"/>
            <a:ext cx="26517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99048" y="301752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  Prerequisites for Premium Conversion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41248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8503920" cy="3822192"/>
          </a:xfrm>
          <a:prstGeom prst="rect">
            <a:avLst/>
          </a:prstGeom>
          <a:solidFill>
            <a:srgbClr val="F5F7FA"/>
          </a:solidFill>
          <a:ln w="1905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2715768"/>
            <a:ext cx="8174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11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13.4  Potential Premium Features Worth Exploring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41248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8503920" cy="1417320"/>
          </a:xfrm>
          <a:prstGeom prst="rect">
            <a:avLst/>
          </a:prstGeom>
          <a:solidFill>
            <a:srgbClr val="E8EDF5"/>
          </a:solidFill>
          <a:ln w="12700">
            <a:solidFill>
              <a:srgbClr val="B8CA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87552"/>
            <a:ext cx="54864" cy="141732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060704"/>
            <a:ext cx="8247888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Including: AI-powered chatbot to provide tailored responses to situational questions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578608"/>
            <a:ext cx="8503920" cy="2286000"/>
          </a:xfrm>
          <a:prstGeom prst="rect">
            <a:avLst/>
          </a:prstGeom>
          <a:solidFill>
            <a:srgbClr val="F5F7FA"/>
          </a:solidFill>
          <a:ln w="19050">
            <a:solidFill>
              <a:srgbClr val="C5D1E0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" y="3538728"/>
            <a:ext cx="8174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thinking here…</a:t>
            </a:r>
            <a:endParaRPr lang="en-US" sz="11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640080"/>
            <a:ext cx="3474720" cy="3474720"/>
          </a:xfrm>
          <a:prstGeom prst="ellipse">
            <a:avLst/>
          </a:prstGeom>
          <a:solidFill>
            <a:srgbClr val="F4623A">
              <a:alpha val="20000"/>
            </a:srgbClr>
          </a:solidFill>
          <a:ln w="12700">
            <a:solidFill>
              <a:srgbClr val="F4623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749040"/>
            <a:ext cx="2011680" cy="201168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3657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Appendices</a:t>
            </a:r>
            <a:endParaRPr lang="en-US" sz="3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623A"/>
          </a:solidFill>
          <a:ln w="12700">
            <a:solidFill>
              <a:srgbClr val="F46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Contents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412480" y="73152"/>
            <a:ext cx="457200" cy="457200"/>
          </a:xfrm>
          <a:prstGeom prst="ellipse">
            <a:avLst/>
          </a:prstGeom>
          <a:solidFill>
            <a:srgbClr val="F4623A">
              <a:alpha val="45000"/>
            </a:srgbClr>
          </a:solidFill>
          <a:ln w="12700">
            <a:solidFill>
              <a:srgbClr val="F462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8503920" cy="3822192"/>
          </a:xfrm>
          <a:prstGeom prst="rect">
            <a:avLst/>
          </a:prstGeom>
          <a:solidFill>
            <a:srgbClr val="F5F7FA"/>
          </a:solidFill>
          <a:ln w="12700">
            <a:solidFill>
              <a:srgbClr val="C5D1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88720"/>
            <a:ext cx="79552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Participant Profiles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Research Methodology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Discussion Guide Summary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Proposition Stimuli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Session Transcript Folders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67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Money Monsters User Research Report</dc:title>
  <dc:subject>PptxGenJS Presentation</dc:subject>
  <dc:creator>Matt Speak</dc:creator>
  <cp:lastModifiedBy>Matt Speak</cp:lastModifiedBy>
  <cp:revision>1</cp:revision>
  <dcterms:created xsi:type="dcterms:W3CDTF">2026-03-02T12:42:43Z</dcterms:created>
  <dcterms:modified xsi:type="dcterms:W3CDTF">2026-03-02T12:42:43Z</dcterms:modified>
</cp:coreProperties>
</file>